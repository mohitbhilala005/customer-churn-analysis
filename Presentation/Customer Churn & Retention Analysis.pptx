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658AAD3-438A-AC7B-352D-F5CBB968459A}" name="mohit bhilala" initials="mb" userId="68e61779f6449c3f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766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42FEDB-5B90-4D2B-A054-638D772F5B62}" v="21" dt="2026-09-07T23:04:36.507"/>
    <p1510:client id="{90AB6CE2-59D0-467F-864F-416111621457}" v="1" dt="2026-09-07T22:21:14.7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it bhilala" userId="68e61779f6449c3f" providerId="LiveId" clId="{BCBAAC38-0320-4B02-87E7-0766B27CF522}"/>
    <pc:docChg chg="undo custSel modSld">
      <pc:chgData name="mohit bhilala" userId="68e61779f6449c3f" providerId="LiveId" clId="{BCBAAC38-0320-4B02-87E7-0766B27CF522}" dt="2026-09-07T23:07:07.086" v="396" actId="478"/>
      <pc:docMkLst>
        <pc:docMk/>
      </pc:docMkLst>
      <pc:sldChg chg="addSp delSp modSp mod modCm chgLayout">
        <pc:chgData name="mohit bhilala" userId="68e61779f6449c3f" providerId="LiveId" clId="{BCBAAC38-0320-4B02-87E7-0766B27CF522}" dt="2026-09-07T22:26:01.330" v="180" actId="1037"/>
        <pc:sldMkLst>
          <pc:docMk/>
          <pc:sldMk cId="0" sldId="256"/>
        </pc:sldMkLst>
        <pc:spChg chg="add mod">
          <ac:chgData name="mohit bhilala" userId="68e61779f6449c3f" providerId="LiveId" clId="{BCBAAC38-0320-4B02-87E7-0766B27CF522}" dt="2026-09-07T22:25:44.788" v="177" actId="1076"/>
          <ac:spMkLst>
            <pc:docMk/>
            <pc:sldMk cId="0" sldId="256"/>
            <ac:spMk id="16" creationId="{5EEC3A5E-0CC7-D47B-66D3-CF13CF1D599F}"/>
          </ac:spMkLst>
        </pc:spChg>
        <pc:picChg chg="mod">
          <ac:chgData name="mohit bhilala" userId="68e61779f6449c3f" providerId="LiveId" clId="{BCBAAC38-0320-4B02-87E7-0766B27CF522}" dt="2026-09-07T22:26:01.330" v="180" actId="1037"/>
          <ac:picMkLst>
            <pc:docMk/>
            <pc:sldMk cId="0" sldId="256"/>
            <ac:picMk id="2" creationId="{00000000-0000-0000-0000-000000000000}"/>
          </ac:picMkLst>
        </pc:picChg>
        <pc:picChg chg="add del mod modCrop">
          <ac:chgData name="mohit bhilala" userId="68e61779f6449c3f" providerId="LiveId" clId="{BCBAAC38-0320-4B02-87E7-0766B27CF522}" dt="2026-09-07T22:24:07.306" v="166" actId="478"/>
          <ac:picMkLst>
            <pc:docMk/>
            <pc:sldMk cId="0" sldId="256"/>
            <ac:picMk id="3" creationId="{00000000-0000-0000-0000-000000000000}"/>
          </ac:picMkLst>
        </pc:picChg>
        <pc:picChg chg="add del mod">
          <ac:chgData name="mohit bhilala" userId="68e61779f6449c3f" providerId="LiveId" clId="{BCBAAC38-0320-4B02-87E7-0766B27CF522}" dt="2026-09-07T22:25:07.138" v="173" actId="14100"/>
          <ac:picMkLst>
            <pc:docMk/>
            <pc:sldMk cId="0" sldId="256"/>
            <ac:picMk id="7" creationId="{00000000-0000-0000-0000-000000000000}"/>
          </ac:picMkLst>
        </pc:picChg>
        <pc:picChg chg="add del mod">
          <ac:chgData name="mohit bhilala" userId="68e61779f6449c3f" providerId="LiveId" clId="{BCBAAC38-0320-4B02-87E7-0766B27CF522}" dt="2026-09-07T22:23:50.425" v="164" actId="478"/>
          <ac:picMkLst>
            <pc:docMk/>
            <pc:sldMk cId="0" sldId="256"/>
            <ac:picMk id="15" creationId="{9B814C36-A183-F5EE-2FA9-B9A0EF8F5A67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mohit bhilala" userId="68e61779f6449c3f" providerId="LiveId" clId="{BCBAAC38-0320-4B02-87E7-0766B27CF522}" dt="2026-09-07T22:18:18.018" v="125" actId="478"/>
              <pc2:cmMkLst xmlns:pc2="http://schemas.microsoft.com/office/powerpoint/2019/9/main/command">
                <pc:docMk/>
                <pc:sldMk cId="0" sldId="256"/>
                <pc2:cmMk id="{710B3BB6-C847-4FDE-BEEB-80CC07E90881}"/>
              </pc2:cmMkLst>
            </pc226:cmChg>
          </p:ext>
        </pc:extLst>
      </pc:sldChg>
      <pc:sldChg chg="modSp mod">
        <pc:chgData name="mohit bhilala" userId="68e61779f6449c3f" providerId="LiveId" clId="{BCBAAC38-0320-4B02-87E7-0766B27CF522}" dt="2026-09-07T23:01:48.930" v="381" actId="207"/>
        <pc:sldMkLst>
          <pc:docMk/>
          <pc:sldMk cId="0" sldId="257"/>
        </pc:sldMkLst>
        <pc:spChg chg="mod">
          <ac:chgData name="mohit bhilala" userId="68e61779f6449c3f" providerId="LiveId" clId="{BCBAAC38-0320-4B02-87E7-0766B27CF522}" dt="2026-09-07T22:58:27.509" v="378" actId="207"/>
          <ac:spMkLst>
            <pc:docMk/>
            <pc:sldMk cId="0" sldId="257"/>
            <ac:spMk id="6" creationId="{00000000-0000-0000-0000-000000000000}"/>
          </ac:spMkLst>
        </pc:spChg>
        <pc:spChg chg="mod">
          <ac:chgData name="mohit bhilala" userId="68e61779f6449c3f" providerId="LiveId" clId="{BCBAAC38-0320-4B02-87E7-0766B27CF522}" dt="2026-09-07T23:01:48.930" v="381" actId="207"/>
          <ac:spMkLst>
            <pc:docMk/>
            <pc:sldMk cId="0" sldId="257"/>
            <ac:spMk id="12" creationId="{00000000-0000-0000-0000-000000000000}"/>
          </ac:spMkLst>
        </pc:spChg>
      </pc:sldChg>
      <pc:sldChg chg="modSp mod">
        <pc:chgData name="mohit bhilala" userId="68e61779f6449c3f" providerId="LiveId" clId="{BCBAAC38-0320-4B02-87E7-0766B27CF522}" dt="2026-09-07T22:45:23.487" v="276" actId="207"/>
        <pc:sldMkLst>
          <pc:docMk/>
          <pc:sldMk cId="0" sldId="258"/>
        </pc:sldMkLst>
        <pc:spChg chg="mod">
          <ac:chgData name="mohit bhilala" userId="68e61779f6449c3f" providerId="LiveId" clId="{BCBAAC38-0320-4B02-87E7-0766B27CF522}" dt="2026-09-07T22:45:23.487" v="276" actId="207"/>
          <ac:spMkLst>
            <pc:docMk/>
            <pc:sldMk cId="0" sldId="258"/>
            <ac:spMk id="11" creationId="{00000000-0000-0000-0000-000000000000}"/>
          </ac:spMkLst>
        </pc:spChg>
        <pc:spChg chg="mod">
          <ac:chgData name="mohit bhilala" userId="68e61779f6449c3f" providerId="LiveId" clId="{BCBAAC38-0320-4B02-87E7-0766B27CF522}" dt="2026-09-07T22:43:57.714" v="270" actId="207"/>
          <ac:spMkLst>
            <pc:docMk/>
            <pc:sldMk cId="0" sldId="258"/>
            <ac:spMk id="13" creationId="{00000000-0000-0000-0000-000000000000}"/>
          </ac:spMkLst>
        </pc:spChg>
        <pc:picChg chg="mod">
          <ac:chgData name="mohit bhilala" userId="68e61779f6449c3f" providerId="LiveId" clId="{BCBAAC38-0320-4B02-87E7-0766B27CF522}" dt="2026-09-07T22:44:20.747" v="272" actId="1037"/>
          <ac:picMkLst>
            <pc:docMk/>
            <pc:sldMk cId="0" sldId="258"/>
            <ac:picMk id="2" creationId="{00000000-0000-0000-0000-000000000000}"/>
          </ac:picMkLst>
        </pc:picChg>
      </pc:sldChg>
      <pc:sldChg chg="delSp modSp mod">
        <pc:chgData name="mohit bhilala" userId="68e61779f6449c3f" providerId="LiveId" clId="{BCBAAC38-0320-4B02-87E7-0766B27CF522}" dt="2026-09-07T23:07:07.086" v="396" actId="478"/>
        <pc:sldMkLst>
          <pc:docMk/>
          <pc:sldMk cId="0" sldId="259"/>
        </pc:sldMkLst>
        <pc:spChg chg="del mod">
          <ac:chgData name="mohit bhilala" userId="68e61779f6449c3f" providerId="LiveId" clId="{BCBAAC38-0320-4B02-87E7-0766B27CF522}" dt="2026-09-07T23:07:07.086" v="396" actId="478"/>
          <ac:spMkLst>
            <pc:docMk/>
            <pc:sldMk cId="0" sldId="259"/>
            <ac:spMk id="13" creationId="{00000000-0000-0000-0000-000000000000}"/>
          </ac:spMkLst>
        </pc:spChg>
      </pc:sldChg>
      <pc:sldChg chg="modSp mod">
        <pc:chgData name="mohit bhilala" userId="68e61779f6449c3f" providerId="LiveId" clId="{BCBAAC38-0320-4B02-87E7-0766B27CF522}" dt="2026-09-07T22:57:59.873" v="377" actId="207"/>
        <pc:sldMkLst>
          <pc:docMk/>
          <pc:sldMk cId="0" sldId="260"/>
        </pc:sldMkLst>
        <pc:spChg chg="mod">
          <ac:chgData name="mohit bhilala" userId="68e61779f6449c3f" providerId="LiveId" clId="{BCBAAC38-0320-4B02-87E7-0766B27CF522}" dt="2026-09-07T22:57:59.873" v="377" actId="207"/>
          <ac:spMkLst>
            <pc:docMk/>
            <pc:sldMk cId="0" sldId="260"/>
            <ac:spMk id="4" creationId="{00000000-0000-0000-0000-000000000000}"/>
          </ac:spMkLst>
        </pc:spChg>
      </pc:sldChg>
      <pc:sldChg chg="addSp delSp modSp mod">
        <pc:chgData name="mohit bhilala" userId="68e61779f6449c3f" providerId="LiveId" clId="{BCBAAC38-0320-4B02-87E7-0766B27CF522}" dt="2026-09-07T22:42:38.975" v="263" actId="1076"/>
        <pc:sldMkLst>
          <pc:docMk/>
          <pc:sldMk cId="0" sldId="261"/>
        </pc:sldMkLst>
        <pc:spChg chg="mod">
          <ac:chgData name="mohit bhilala" userId="68e61779f6449c3f" providerId="LiveId" clId="{BCBAAC38-0320-4B02-87E7-0766B27CF522}" dt="2026-09-07T22:42:38.337" v="261" actId="1076"/>
          <ac:spMkLst>
            <pc:docMk/>
            <pc:sldMk cId="0" sldId="261"/>
            <ac:spMk id="21" creationId="{00000000-0000-0000-0000-000000000000}"/>
          </ac:spMkLst>
        </pc:spChg>
        <pc:spChg chg="mod">
          <ac:chgData name="mohit bhilala" userId="68e61779f6449c3f" providerId="LiveId" clId="{BCBAAC38-0320-4B02-87E7-0766B27CF522}" dt="2026-09-07T22:42:38.657" v="262" actId="1076"/>
          <ac:spMkLst>
            <pc:docMk/>
            <pc:sldMk cId="0" sldId="261"/>
            <ac:spMk id="22" creationId="{00000000-0000-0000-0000-000000000000}"/>
          </ac:spMkLst>
        </pc:spChg>
        <pc:graphicFrameChg chg="mod modGraphic">
          <ac:chgData name="mohit bhilala" userId="68e61779f6449c3f" providerId="LiveId" clId="{BCBAAC38-0320-4B02-87E7-0766B27CF522}" dt="2026-09-07T22:42:38.975" v="263" actId="1076"/>
          <ac:graphicFrameMkLst>
            <pc:docMk/>
            <pc:sldMk cId="0" sldId="261"/>
            <ac:graphicFrameMk id="5" creationId="{00000000-0000-0000-0000-000000000000}"/>
          </ac:graphicFrameMkLst>
        </pc:graphicFrameChg>
        <pc:picChg chg="mod">
          <ac:chgData name="mohit bhilala" userId="68e61779f6449c3f" providerId="LiveId" clId="{BCBAAC38-0320-4B02-87E7-0766B27CF522}" dt="2026-09-07T14:47:05.518" v="104" actId="1037"/>
          <ac:picMkLst>
            <pc:docMk/>
            <pc:sldMk cId="0" sldId="261"/>
            <ac:picMk id="2" creationId="{00000000-0000-0000-0000-000000000000}"/>
          </ac:picMkLst>
        </pc:picChg>
        <pc:picChg chg="add del">
          <ac:chgData name="mohit bhilala" userId="68e61779f6449c3f" providerId="LiveId" clId="{BCBAAC38-0320-4B02-87E7-0766B27CF522}" dt="2026-09-07T14:45:55.401" v="43" actId="478"/>
          <ac:picMkLst>
            <pc:docMk/>
            <pc:sldMk cId="0" sldId="261"/>
            <ac:picMk id="30" creationId="{00000000-0000-0000-0000-000000000000}"/>
          </ac:picMkLst>
        </pc:picChg>
      </pc:sldChg>
      <pc:sldChg chg="addSp delSp modSp mod">
        <pc:chgData name="mohit bhilala" userId="68e61779f6449c3f" providerId="LiveId" clId="{BCBAAC38-0320-4B02-87E7-0766B27CF522}" dt="2026-09-07T14:42:46.059" v="34" actId="14100"/>
        <pc:sldMkLst>
          <pc:docMk/>
          <pc:sldMk cId="0" sldId="262"/>
        </pc:sldMkLst>
        <pc:picChg chg="del">
          <ac:chgData name="mohit bhilala" userId="68e61779f6449c3f" providerId="LiveId" clId="{BCBAAC38-0320-4B02-87E7-0766B27CF522}" dt="2026-09-07T14:41:40.411" v="25" actId="478"/>
          <ac:picMkLst>
            <pc:docMk/>
            <pc:sldMk cId="0" sldId="262"/>
            <ac:picMk id="5" creationId="{00000000-0000-0000-0000-000000000000}"/>
          </ac:picMkLst>
        </pc:picChg>
        <pc:picChg chg="add mod">
          <ac:chgData name="mohit bhilala" userId="68e61779f6449c3f" providerId="LiveId" clId="{BCBAAC38-0320-4B02-87E7-0766B27CF522}" dt="2026-09-07T14:42:46.059" v="34" actId="14100"/>
          <ac:picMkLst>
            <pc:docMk/>
            <pc:sldMk cId="0" sldId="262"/>
            <ac:picMk id="17" creationId="{97254E51-FEA7-2146-047B-28AF8E161C6D}"/>
          </ac:picMkLst>
        </pc:picChg>
      </pc:sldChg>
      <pc:sldChg chg="addSp delSp modSp mod">
        <pc:chgData name="mohit bhilala" userId="68e61779f6449c3f" providerId="LiveId" clId="{BCBAAC38-0320-4B02-87E7-0766B27CF522}" dt="2026-09-07T14:41:28.821" v="24" actId="14100"/>
        <pc:sldMkLst>
          <pc:docMk/>
          <pc:sldMk cId="0" sldId="263"/>
        </pc:sldMkLst>
        <pc:picChg chg="del">
          <ac:chgData name="mohit bhilala" userId="68e61779f6449c3f" providerId="LiveId" clId="{BCBAAC38-0320-4B02-87E7-0766B27CF522}" dt="2026-09-07T14:40:40.653" v="18" actId="478"/>
          <ac:picMkLst>
            <pc:docMk/>
            <pc:sldMk cId="0" sldId="263"/>
            <ac:picMk id="5" creationId="{00000000-0000-0000-0000-000000000000}"/>
          </ac:picMkLst>
        </pc:picChg>
        <pc:picChg chg="add mod">
          <ac:chgData name="mohit bhilala" userId="68e61779f6449c3f" providerId="LiveId" clId="{BCBAAC38-0320-4B02-87E7-0766B27CF522}" dt="2026-09-07T14:41:28.821" v="24" actId="14100"/>
          <ac:picMkLst>
            <pc:docMk/>
            <pc:sldMk cId="0" sldId="263"/>
            <ac:picMk id="17" creationId="{77490603-A912-5508-3156-F1A37756D243}"/>
          </ac:picMkLst>
        </pc:picChg>
      </pc:sldChg>
      <pc:sldChg chg="addSp delSp modSp mod">
        <pc:chgData name="mohit bhilala" userId="68e61779f6449c3f" providerId="LiveId" clId="{BCBAAC38-0320-4B02-87E7-0766B27CF522}" dt="2026-09-07T22:57:34.013" v="375" actId="207"/>
        <pc:sldMkLst>
          <pc:docMk/>
          <pc:sldMk cId="0" sldId="264"/>
        </pc:sldMkLst>
        <pc:spChg chg="mod">
          <ac:chgData name="mohit bhilala" userId="68e61779f6449c3f" providerId="LiveId" clId="{BCBAAC38-0320-4B02-87E7-0766B27CF522}" dt="2026-09-07T22:57:28.086" v="374" actId="207"/>
          <ac:spMkLst>
            <pc:docMk/>
            <pc:sldMk cId="0" sldId="264"/>
            <ac:spMk id="9" creationId="{00000000-0000-0000-0000-000000000000}"/>
          </ac:spMkLst>
        </pc:spChg>
        <pc:spChg chg="mod">
          <ac:chgData name="mohit bhilala" userId="68e61779f6449c3f" providerId="LiveId" clId="{BCBAAC38-0320-4B02-87E7-0766B27CF522}" dt="2026-09-07T22:57:34.013" v="375" actId="207"/>
          <ac:spMkLst>
            <pc:docMk/>
            <pc:sldMk cId="0" sldId="264"/>
            <ac:spMk id="10" creationId="{00000000-0000-0000-0000-000000000000}"/>
          </ac:spMkLst>
        </pc:spChg>
        <pc:picChg chg="del mod">
          <ac:chgData name="mohit bhilala" userId="68e61779f6449c3f" providerId="LiveId" clId="{BCBAAC38-0320-4B02-87E7-0766B27CF522}" dt="2026-09-07T14:39:04.655" v="11" actId="478"/>
          <ac:picMkLst>
            <pc:docMk/>
            <pc:sldMk cId="0" sldId="264"/>
            <ac:picMk id="5" creationId="{00000000-0000-0000-0000-000000000000}"/>
          </ac:picMkLst>
        </pc:picChg>
        <pc:picChg chg="add del mod">
          <ac:chgData name="mohit bhilala" userId="68e61779f6449c3f" providerId="LiveId" clId="{BCBAAC38-0320-4B02-87E7-0766B27CF522}" dt="2026-09-07T14:36:57.393" v="6" actId="931"/>
          <ac:picMkLst>
            <pc:docMk/>
            <pc:sldMk cId="0" sldId="264"/>
            <ac:picMk id="17" creationId="{D3AA3F5C-4DDA-97A6-85CD-CED0D51E91A8}"/>
          </ac:picMkLst>
        </pc:picChg>
        <pc:picChg chg="add mod">
          <ac:chgData name="mohit bhilala" userId="68e61779f6449c3f" providerId="LiveId" clId="{BCBAAC38-0320-4B02-87E7-0766B27CF522}" dt="2026-09-07T14:40:23.991" v="17" actId="14100"/>
          <ac:picMkLst>
            <pc:docMk/>
            <pc:sldMk cId="0" sldId="264"/>
            <ac:picMk id="19" creationId="{FA2EE9B2-D0AC-021C-B00B-4E50F1109FC0}"/>
          </ac:picMkLst>
        </pc:picChg>
      </pc:sldChg>
      <pc:sldChg chg="modSp mod">
        <pc:chgData name="mohit bhilala" userId="68e61779f6449c3f" providerId="LiveId" clId="{BCBAAC38-0320-4B02-87E7-0766B27CF522}" dt="2026-09-07T22:52:26.346" v="294" actId="207"/>
        <pc:sldMkLst>
          <pc:docMk/>
          <pc:sldMk cId="0" sldId="265"/>
        </pc:sldMkLst>
        <pc:spChg chg="mod">
          <ac:chgData name="mohit bhilala" userId="68e61779f6449c3f" providerId="LiveId" clId="{BCBAAC38-0320-4B02-87E7-0766B27CF522}" dt="2026-09-07T22:50:14.938" v="286" actId="207"/>
          <ac:spMkLst>
            <pc:docMk/>
            <pc:sldMk cId="0" sldId="265"/>
            <ac:spMk id="11" creationId="{00000000-0000-0000-0000-000000000000}"/>
          </ac:spMkLst>
        </pc:spChg>
        <pc:spChg chg="mod">
          <ac:chgData name="mohit bhilala" userId="68e61779f6449c3f" providerId="LiveId" clId="{BCBAAC38-0320-4B02-87E7-0766B27CF522}" dt="2026-09-07T22:51:57.560" v="291" actId="207"/>
          <ac:spMkLst>
            <pc:docMk/>
            <pc:sldMk cId="0" sldId="265"/>
            <ac:spMk id="13" creationId="{00000000-0000-0000-0000-000000000000}"/>
          </ac:spMkLst>
        </pc:spChg>
        <pc:spChg chg="mod">
          <ac:chgData name="mohit bhilala" userId="68e61779f6449c3f" providerId="LiveId" clId="{BCBAAC38-0320-4B02-87E7-0766B27CF522}" dt="2026-09-07T22:52:26.346" v="294" actId="207"/>
          <ac:spMkLst>
            <pc:docMk/>
            <pc:sldMk cId="0" sldId="265"/>
            <ac:spMk id="14" creationId="{00000000-0000-0000-0000-000000000000}"/>
          </ac:spMkLst>
        </pc:spChg>
      </pc:sldChg>
      <pc:sldChg chg="modSp mod">
        <pc:chgData name="mohit bhilala" userId="68e61779f6449c3f" providerId="LiveId" clId="{BCBAAC38-0320-4B02-87E7-0766B27CF522}" dt="2026-09-07T23:04:57.940" v="394" actId="207"/>
        <pc:sldMkLst>
          <pc:docMk/>
          <pc:sldMk cId="0" sldId="266"/>
        </pc:sldMkLst>
        <pc:spChg chg="mod">
          <ac:chgData name="mohit bhilala" userId="68e61779f6449c3f" providerId="LiveId" clId="{BCBAAC38-0320-4B02-87E7-0766B27CF522}" dt="2026-09-07T23:03:51.388" v="390" actId="20577"/>
          <ac:spMkLst>
            <pc:docMk/>
            <pc:sldMk cId="0" sldId="266"/>
            <ac:spMk id="8" creationId="{00000000-0000-0000-0000-000000000000}"/>
          </ac:spMkLst>
        </pc:spChg>
        <pc:spChg chg="mod">
          <ac:chgData name="mohit bhilala" userId="68e61779f6449c3f" providerId="LiveId" clId="{BCBAAC38-0320-4B02-87E7-0766B27CF522}" dt="2026-09-07T23:04:57.940" v="394" actId="207"/>
          <ac:spMkLst>
            <pc:docMk/>
            <pc:sldMk cId="0" sldId="266"/>
            <ac:spMk id="10" creationId="{00000000-0000-0000-0000-000000000000}"/>
          </ac:spMkLst>
        </pc:spChg>
        <pc:spChg chg="mod">
          <ac:chgData name="mohit bhilala" userId="68e61779f6449c3f" providerId="LiveId" clId="{BCBAAC38-0320-4B02-87E7-0766B27CF522}" dt="2026-09-07T22:54:23.683" v="301" actId="207"/>
          <ac:spMkLst>
            <pc:docMk/>
            <pc:sldMk cId="0" sldId="266"/>
            <ac:spMk id="1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.png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6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5712" y="4555777"/>
            <a:ext cx="4600575" cy="361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99322" y="2416522"/>
            <a:ext cx="9393205" cy="5914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57"/>
              </a:lnSpc>
            </a:pPr>
            <a:r>
              <a:rPr sz="4050" b="1" i="0" u="none" dirty="0">
                <a:solidFill>
                  <a:srgbClr val="F8FAFC"/>
                </a:solidFill>
                <a:latin typeface="Plus Jakarta Sans"/>
              </a:rPr>
              <a:t>Customer Churn &amp; Retention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81250" y="3198465"/>
            <a:ext cx="7429500" cy="814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37"/>
              </a:lnSpc>
            </a:pPr>
            <a:r>
              <a:rPr sz="1425" b="0" i="0" u="none">
                <a:solidFill>
                  <a:srgbClr val="94A3B8"/>
                </a:solidFill>
                <a:latin typeface="Inter"/>
              </a:rPr>
              <a:t>A comprehensive data-driven investigation analyzing churn dynamics across 7,043 customer profiles to identify critical loss drivers and prioritize proactive retention intervention strategies.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6692" y="2025997"/>
            <a:ext cx="220218" cy="2000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986212" y="4755802"/>
            <a:ext cx="790575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 u="none">
                <a:solidFill>
                  <a:srgbClr val="CBD5E1"/>
                </a:solidFill>
                <a:latin typeface="Inter"/>
              </a:rPr>
              <a:t>Mohit Bhilala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57812" y="4755802"/>
            <a:ext cx="857250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 u="none">
                <a:solidFill>
                  <a:srgbClr val="CBD5E1"/>
                </a:solidFill>
                <a:latin typeface="Inter"/>
              </a:rPr>
              <a:t>IIT Kharagpur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8937" y="4755802"/>
            <a:ext cx="1657350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 u="none">
                <a:solidFill>
                  <a:srgbClr val="CBD5E1"/>
                </a:solidFill>
                <a:latin typeface="Inter"/>
              </a:rPr>
              <a:t>MySQL • Power BI • Excel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5712" y="4770090"/>
            <a:ext cx="114300" cy="1333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0162" y="4770090"/>
            <a:ext cx="171450" cy="1333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8437" y="4770090"/>
            <a:ext cx="114300" cy="13335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EEC3A5E-0CC7-D47B-66D3-CF13CF1D599F}"/>
              </a:ext>
            </a:extLst>
          </p:cNvPr>
          <p:cNvSpPr txBox="1"/>
          <p:nvPr/>
        </p:nvSpPr>
        <p:spPr>
          <a:xfrm>
            <a:off x="4701279" y="1972120"/>
            <a:ext cx="37112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F0"/>
                </a:solidFill>
              </a:rPr>
              <a:t>BUSINESS ANALYTICS PROJECT</a:t>
            </a:r>
            <a:endParaRPr lang="en-IN" sz="1400" dirty="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832371"/>
            <a:ext cx="5324475" cy="384095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832371"/>
            <a:ext cx="5324475" cy="38409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2594371"/>
            <a:ext cx="4970621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8BDF8"/>
                </a:solidFill>
                <a:latin typeface="Plus Jakarta Sans SemiBold"/>
              </a:rPr>
              <a:t>The Business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2927746"/>
            <a:ext cx="473392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200" dirty="0">
                <a:solidFill>
                  <a:schemeClr val="bg1">
                    <a:lumMod val="85000"/>
                  </a:schemeClr>
                </a:solidFill>
              </a:rPr>
              <a:t>Customer churn reduces the active customer base and creates a need for targeted retention strategies in competitive telecom markets.</a:t>
            </a:r>
            <a:endParaRPr sz="1125" b="0" i="0" u="none" dirty="0">
              <a:solidFill>
                <a:schemeClr val="bg1">
                  <a:lumMod val="85000"/>
                </a:schemeClr>
              </a:solidFill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81775" y="2594371"/>
            <a:ext cx="4970621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8BDF8"/>
                </a:solidFill>
                <a:latin typeface="Plus Jakarta Sans SemiBold"/>
              </a:rPr>
              <a:t>Core Analytical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2927746"/>
            <a:ext cx="4733925" cy="664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Deliver an end-to-end analytical framework to uncover high-impact churn drivers and enable targeted, data-backed operational decisions.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2156221"/>
            <a:ext cx="266700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04900" y="3706415"/>
            <a:ext cx="4505325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Difficulty pinpointing early indicators before subscription cancellation occurs.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900" y="4263628"/>
            <a:ext cx="4505325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Lack of consolidated visibility across contract terms, billing, and services.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900" y="4820840"/>
            <a:ext cx="450532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200" dirty="0">
                <a:solidFill>
                  <a:schemeClr val="bg1">
                    <a:lumMod val="85000"/>
                  </a:schemeClr>
                </a:solidFill>
                <a:latin typeface="Inter"/>
              </a:rPr>
              <a:t>Untargeted retention efforts may reduce the efficiency of retention spending.</a:t>
            </a:r>
            <a:endParaRPr sz="1125" b="0" i="0" u="none" dirty="0">
              <a:solidFill>
                <a:schemeClr val="bg1">
                  <a:lumMod val="85000"/>
                </a:schemeClr>
              </a:solidFill>
              <a:latin typeface="Inter"/>
            </a:endParaRP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1775" y="2156221"/>
            <a:ext cx="266700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10375" y="3706415"/>
            <a:ext cx="4505325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Quantify baseline churn and retention metrics across 7,043 records.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4263628"/>
            <a:ext cx="4505325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Isolate multi-attribute churn risk profiles across 21 demographic and service factors.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0375" y="4820840"/>
            <a:ext cx="4505325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Engineer interactive Power BI dashboards for ongoing executive risk mitigation.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3706415"/>
            <a:ext cx="14287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300" y="4263628"/>
            <a:ext cx="14287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300" y="4820840"/>
            <a:ext cx="14287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1775" y="3706415"/>
            <a:ext cx="14287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1775" y="4263628"/>
            <a:ext cx="14287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1775" y="4820840"/>
            <a:ext cx="14287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Plus Jakarta Sans"/>
              </a:rPr>
              <a:t>Problem Statement &amp; Objectives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1025" y="895350"/>
            <a:ext cx="47625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038600"/>
            <a:ext cx="2536775" cy="126131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2033" y="2013942"/>
            <a:ext cx="2536775" cy="145315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042" y="4038600"/>
            <a:ext cx="2536775" cy="126131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4050" y="2205781"/>
            <a:ext cx="2536775" cy="126131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81025" y="3733800"/>
            <a:ext cx="11029950" cy="381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7631" y="4238625"/>
            <a:ext cx="2243561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0" i="0" u="none">
                <a:solidFill>
                  <a:srgbClr val="38BDF8"/>
                </a:solidFill>
                <a:latin typeface="Plus Jakarta Sans SemiBold"/>
              </a:rPr>
              <a:t>1. Ingestion &amp; Audit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4524375"/>
            <a:ext cx="2136725" cy="575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Processed 7,043 customer records across 21 columns; standardized missing values and charge formats.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8640" y="2213967"/>
            <a:ext cx="2243561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0" i="0" u="none">
                <a:solidFill>
                  <a:srgbClr val="38BDF8"/>
                </a:solidFill>
                <a:latin typeface="Plus Jakarta Sans SemiBold"/>
              </a:rPr>
              <a:t>2. SQL 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2058" y="2499717"/>
            <a:ext cx="2136725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z="900" dirty="0">
                <a:solidFill>
                  <a:srgbClr val="57667C"/>
                </a:solidFill>
                <a:latin typeface="Inter"/>
              </a:rPr>
              <a:t>Authored MySQL aggregations to extract cohort rates, tenure patterns, and multi-factor churn segments.</a:t>
            </a:r>
            <a:endParaRPr sz="900" b="0" i="0" u="none" dirty="0">
              <a:solidFill>
                <a:srgbClr val="57667C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89649" y="4238625"/>
            <a:ext cx="2243561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0" i="0" u="none">
                <a:solidFill>
                  <a:srgbClr val="38BDF8"/>
                </a:solidFill>
                <a:latin typeface="Plus Jakarta Sans SemiBold"/>
              </a:rPr>
              <a:t>3. BI Modeling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3067" y="4524375"/>
            <a:ext cx="2136725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900" b="1" dirty="0">
                <a:solidFill>
                  <a:srgbClr val="57667C"/>
                </a:solidFill>
                <a:latin typeface="Inter"/>
              </a:rPr>
              <a:t>Designed DAX measures, calculated groups, and interactive slicers inside Power BI Desktop.</a:t>
            </a:r>
            <a:endParaRPr lang="en-IN" sz="900" dirty="0">
              <a:solidFill>
                <a:srgbClr val="57667C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220657" y="2405806"/>
            <a:ext cx="2243561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0" i="0" u="none">
                <a:solidFill>
                  <a:srgbClr val="38BDF8"/>
                </a:solidFill>
                <a:latin typeface="Plus Jakarta Sans SemiBold"/>
              </a:rPr>
              <a:t>4. Strategy Deployment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74075" y="2691556"/>
            <a:ext cx="2136725" cy="575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Translated risk matrices into targeted retention playbooks and interactive executive dashboards.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Plus Jakarta Sans"/>
              </a:rPr>
              <a:t>Data &amp; Analytical Workflow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1025" y="895350"/>
            <a:ext cx="47625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754162" y="36576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585171" y="36576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416179" y="36576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247188" y="36576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512218"/>
            <a:ext cx="2586037" cy="1590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5662" y="2512218"/>
            <a:ext cx="2586037" cy="15906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2512218"/>
            <a:ext cx="2586037" cy="15906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4937" y="2512218"/>
            <a:ext cx="2586037" cy="15906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133475"/>
            <a:ext cx="11029950" cy="5238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73956" y="2807493"/>
            <a:ext cx="1400175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900"/>
              </a:lnSpc>
            </a:pPr>
            <a:r>
              <a:rPr sz="3900" b="0" i="0" u="none">
                <a:solidFill>
                  <a:srgbClr val="38BDF8"/>
                </a:solidFill>
                <a:latin typeface="Plus Jakarta Sans ExtraBold"/>
              </a:rPr>
              <a:t>7,043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306" y="3417093"/>
            <a:ext cx="11334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CBD5E1"/>
                </a:solidFill>
                <a:latin typeface="Inter SemiBold"/>
              </a:rPr>
              <a:t>Total Customers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7268" y="3655218"/>
            <a:ext cx="17335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Inter"/>
              </a:rPr>
              <a:t>Analyzed in complete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45743" y="2807493"/>
            <a:ext cx="1285875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900"/>
              </a:lnSpc>
            </a:pPr>
            <a:r>
              <a:rPr sz="3900" b="0" i="0" u="none">
                <a:solidFill>
                  <a:srgbClr val="F87171"/>
                </a:solidFill>
                <a:latin typeface="Plus Jakarta Sans ExtraBold"/>
              </a:rPr>
              <a:t>1,869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45743" y="3417093"/>
            <a:ext cx="12858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CBD5E1"/>
                </a:solidFill>
                <a:latin typeface="Inter SemiBold"/>
              </a:rPr>
              <a:t>Churned Accounts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7006" y="2807493"/>
            <a:ext cx="1952625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900"/>
              </a:lnSpc>
            </a:pPr>
            <a:r>
              <a:rPr sz="3900" b="0" i="0" u="none">
                <a:solidFill>
                  <a:srgbClr val="F87171"/>
                </a:solidFill>
                <a:latin typeface="Plus Jakarta Sans ExtraBold"/>
              </a:rPr>
              <a:t>26.54%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46093" y="3417093"/>
            <a:ext cx="13144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CBD5E1"/>
                </a:solidFill>
                <a:latin typeface="Inter SemiBold"/>
              </a:rPr>
              <a:t>Overall Churn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3218" y="3655218"/>
            <a:ext cx="1600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Inter"/>
              </a:rPr>
              <a:t>Baseline benchmark metric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51168" y="2807493"/>
            <a:ext cx="1933575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900"/>
              </a:lnSpc>
            </a:pPr>
            <a:r>
              <a:rPr sz="3900" b="0" i="0" u="none">
                <a:solidFill>
                  <a:srgbClr val="34D399"/>
                </a:solidFill>
                <a:latin typeface="Plus Jakarta Sans ExtraBold"/>
              </a:rPr>
              <a:t>73.46%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13131" y="3417093"/>
            <a:ext cx="10096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CBD5E1"/>
                </a:solidFill>
                <a:latin typeface="Inter SemiBold"/>
              </a:rPr>
              <a:t>Retention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79731" y="3655218"/>
            <a:ext cx="20764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Inter"/>
              </a:rPr>
              <a:t>Sustained recurring customer 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Plus Jakarta Sans"/>
              </a:rPr>
              <a:t>Overall Churn Performance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1025" y="895350"/>
            <a:ext cx="47625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133475"/>
            <a:ext cx="11029950" cy="5238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616304" y="4826793"/>
            <a:ext cx="1102995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200" dirty="0">
                <a:solidFill>
                  <a:schemeClr val="bg1">
                    <a:lumMod val="85000"/>
                  </a:schemeClr>
                </a:solidFill>
                <a:latin typeface="Inter"/>
              </a:rPr>
              <a:t>Tenure and contract duration emerge as important dimensions for customer-retention segmentation.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Plus Jakarta Sans"/>
              </a:rPr>
              <a:t>Key Churn Drivers Comparison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1025" y="895350"/>
            <a:ext cx="47625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832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935956"/>
            <a:ext cx="11029950" cy="310753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133475"/>
            <a:ext cx="11029950" cy="523875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1495582"/>
              </p:ext>
            </p:extLst>
          </p:nvPr>
        </p:nvGraphicFramePr>
        <p:xfrm>
          <a:off x="590550" y="1984809"/>
          <a:ext cx="11010899" cy="30884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58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3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7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34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06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7696"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38BDF8"/>
                          </a:solidFill>
                          <a:latin typeface="Plus Jakarta Sans SemiBold"/>
                        </a:rPr>
                        <a:t>Contract Type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DSL Service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Fiber Optic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No Internet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Total Churn Rate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696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 SemiBold"/>
                        </a:rPr>
                        <a:t>Month-to-Month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25" b="0" i="0" u="none" dirty="0">
                        <a:solidFill>
                          <a:srgbClr val="CBD5E1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25" b="0" i="0" u="none" dirty="0">
                        <a:solidFill>
                          <a:srgbClr val="CBD5E1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25" b="0" i="0" u="none" dirty="0">
                        <a:solidFill>
                          <a:srgbClr val="CBD5E1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25" b="0" i="0" u="none" dirty="0">
                        <a:solidFill>
                          <a:srgbClr val="CBD5E1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696"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CBD5E1"/>
                          </a:solidFill>
                          <a:latin typeface="Inter SemiBold"/>
                        </a:rPr>
                        <a:t>One-Year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25" b="0" i="0" u="none" dirty="0">
                        <a:solidFill>
                          <a:srgbClr val="CBD5E1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25" b="0" i="0" u="none" dirty="0">
                        <a:solidFill>
                          <a:srgbClr val="CBD5E1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25" b="0" i="0" u="none" dirty="0">
                        <a:solidFill>
                          <a:srgbClr val="CBD5E1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25" b="0" i="0" u="none" dirty="0">
                        <a:solidFill>
                          <a:srgbClr val="CBD5E1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696"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CBD5E1"/>
                          </a:solidFill>
                          <a:latin typeface="Inter SemiBold"/>
                        </a:rPr>
                        <a:t>Two-Year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25" b="0" i="0" u="none" dirty="0">
                        <a:solidFill>
                          <a:srgbClr val="CBD5E1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25" b="0" i="0" u="none" dirty="0">
                        <a:solidFill>
                          <a:srgbClr val="CBD5E1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25" b="0" i="0" u="none" dirty="0">
                        <a:solidFill>
                          <a:srgbClr val="CBD5E1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25" b="0" i="0" u="none" dirty="0">
                        <a:solidFill>
                          <a:srgbClr val="CBD5E1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7697">
                <a:tc>
                  <a:txBody>
                    <a:bodyPr/>
                    <a:lstStyle/>
                    <a:p>
                      <a:pPr algn="l"/>
                      <a:r>
                        <a:rPr sz="1125" b="1" i="0" u="none" dirty="0">
                          <a:solidFill>
                            <a:srgbClr val="CBD5E1"/>
                          </a:solidFill>
                          <a:latin typeface="Inter"/>
                        </a:rPr>
                        <a:t>All Contracts Combined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CBD5E1"/>
                          </a:solidFill>
                          <a:latin typeface="Inter"/>
                        </a:rPr>
                        <a:t>18.96%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CBD5E1"/>
                          </a:solidFill>
                          <a:latin typeface="Inter"/>
                        </a:rPr>
                        <a:t>41.89%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CBD5E1"/>
                          </a:solidFill>
                          <a:latin typeface="Inter"/>
                        </a:rPr>
                        <a:t>7.40%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 dirty="0">
                          <a:solidFill>
                            <a:srgbClr val="CBD5E1"/>
                          </a:solidFill>
                          <a:latin typeface="Inter"/>
                        </a:rPr>
                        <a:t>26.54%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8B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90550" y="2505075"/>
            <a:ext cx="308580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76352" y="2505075"/>
            <a:ext cx="189354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569892" y="2505075"/>
            <a:ext cx="183743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07324" y="2505075"/>
            <a:ext cx="182344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230766" y="2505075"/>
            <a:ext cx="23706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0550" y="3155156"/>
            <a:ext cx="308580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76352" y="3155156"/>
            <a:ext cx="189354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569892" y="3155156"/>
            <a:ext cx="183743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407324" y="3155156"/>
            <a:ext cx="182344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230766" y="3155156"/>
            <a:ext cx="23706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0550" y="3805237"/>
            <a:ext cx="308580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76352" y="3805237"/>
            <a:ext cx="189354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569892" y="3805237"/>
            <a:ext cx="183743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407324" y="3805237"/>
            <a:ext cx="182344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230766" y="3805237"/>
            <a:ext cx="23706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90550" y="4455318"/>
            <a:ext cx="308580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76352" y="4455318"/>
            <a:ext cx="189354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569892" y="4455318"/>
            <a:ext cx="183743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407324" y="4455318"/>
            <a:ext cx="182344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230766" y="4455318"/>
            <a:ext cx="23706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7285" y="2690812"/>
            <a:ext cx="771525" cy="297656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8083" y="2690812"/>
            <a:ext cx="781050" cy="297656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8045" y="2690812"/>
            <a:ext cx="762000" cy="297656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44558" y="2690812"/>
            <a:ext cx="742950" cy="297656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70623" y="3340893"/>
            <a:ext cx="704850" cy="297656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31421" y="3340893"/>
            <a:ext cx="714375" cy="297656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76145" y="3340893"/>
            <a:ext cx="685800" cy="297656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63608" y="3340893"/>
            <a:ext cx="704850" cy="297656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94435" y="3990975"/>
            <a:ext cx="657225" cy="297656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40946" y="3990975"/>
            <a:ext cx="695325" cy="297656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71383" y="3990975"/>
            <a:ext cx="695325" cy="297656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068371" y="3990975"/>
            <a:ext cx="695325" cy="29765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Plus Jakarta Sans"/>
              </a:rPr>
              <a:t>Churn Risk Matrix by Segment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81025" y="895350"/>
            <a:ext cx="47625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275" y="1466850"/>
            <a:ext cx="7124700" cy="457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436614"/>
            <a:ext cx="3619500" cy="647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1525" y="2550914"/>
            <a:ext cx="32766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Plus Jakarta Sans"/>
              </a:rPr>
              <a:t>26.54%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2817614"/>
            <a:ext cx="32766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PORTFOLIO CHURN BENCHMARK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3236714"/>
            <a:ext cx="3429000" cy="579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Tenure Decay: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Churn spikes at 48% in months 0–11 and drops monotonically to only 7% by year five (60–72 months).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3911947"/>
            <a:ext cx="3429000" cy="579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Commitment Leverage: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Month-to-month contracts account for 43% attrition vs. 3% for two-year contracts.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4587180"/>
            <a:ext cx="342900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Service Vulnerability: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Fiber optic users demonstrate 42% churn, more than double DSL's 19%.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3236714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3911947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4587180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Plus Jakarta Sans"/>
              </a:rPr>
              <a:t>Dashboard: Executive Overview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1025" y="895350"/>
            <a:ext cx="47625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7254E51-FEA7-2146-047B-28AF8E161C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6275" y="1486128"/>
            <a:ext cx="7124700" cy="455272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275" y="1466850"/>
            <a:ext cx="7124700" cy="457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436614"/>
            <a:ext cx="3619500" cy="647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1525" y="2550914"/>
            <a:ext cx="32766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Plus Jakarta Sans"/>
              </a:rPr>
              <a:t>45.0%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2817614"/>
            <a:ext cx="32766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ELECTRONIC CHECK CHURN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3236714"/>
            <a:ext cx="3429000" cy="579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Payment Friction: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Electronic check churn (45%) vastly outpaces automated bank transfers (17%) and credit cards (15%).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3911947"/>
            <a:ext cx="342900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Monthly Charge Curve: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Churn climbs steeply from $18–$38 (11%) to peak in the $78–$98 tier (37%).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4393852"/>
            <a:ext cx="3429000" cy="579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Demographics: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Senior citizens display 42% churn vs. 24% for non-seniors; accounts without dependents churn at 31% vs. 15%.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3236714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3911947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4393852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Plus Jakarta Sans"/>
              </a:rPr>
              <a:t>Dashboard: Customer Segmentation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1025" y="895350"/>
            <a:ext cx="47625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7490603-A912-5508-3156-F1A37756D2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6275" y="1466850"/>
            <a:ext cx="7380066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275" y="1466850"/>
            <a:ext cx="7124700" cy="457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533203"/>
            <a:ext cx="3619500" cy="647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1525" y="2647503"/>
            <a:ext cx="32766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7171"/>
                </a:solidFill>
                <a:latin typeface="Plus Jakarta Sans"/>
              </a:rPr>
              <a:t>54.61%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2914203"/>
            <a:ext cx="32766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CRITICAL RISK SEGMENT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3333303"/>
            <a:ext cx="342900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High-Risk Nucleus: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Month-to-month subscribers with Fiber optic service represent the primary loss driver.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3815208"/>
            <a:ext cx="342900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050" dirty="0">
                <a:solidFill>
                  <a:schemeClr val="bg1">
                    <a:lumMod val="85000"/>
                  </a:schemeClr>
                </a:solidFill>
                <a:latin typeface="Inter"/>
              </a:rPr>
              <a:t>Multi-Factor Risk: Month-to-month contracts combined with </a:t>
            </a:r>
            <a:r>
              <a:rPr lang="en-IN" sz="1050" dirty="0" err="1">
                <a:solidFill>
                  <a:schemeClr val="bg1">
                    <a:lumMod val="85000"/>
                  </a:schemeClr>
                </a:solidFill>
                <a:latin typeface="Inter"/>
              </a:rPr>
              <a:t>fiber</a:t>
            </a:r>
            <a:r>
              <a:rPr lang="en-IN" sz="1050" dirty="0">
                <a:solidFill>
                  <a:schemeClr val="bg1">
                    <a:lumMod val="85000"/>
                  </a:schemeClr>
                </a:solidFill>
                <a:latin typeface="Inter"/>
              </a:rPr>
              <a:t>-optic service show substantially elevated churn.</a:t>
            </a:r>
            <a:endParaRPr sz="1050" b="0" i="0" u="none" dirty="0">
              <a:solidFill>
                <a:schemeClr val="bg1">
                  <a:lumMod val="85000"/>
                </a:schemeClr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1525" y="4490442"/>
            <a:ext cx="342900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050" dirty="0">
                <a:solidFill>
                  <a:schemeClr val="bg1">
                    <a:lumMod val="85000"/>
                  </a:schemeClr>
                </a:solidFill>
                <a:latin typeface="Inter"/>
              </a:rPr>
              <a:t>Immediate Focus: Prioritize this segment because it has the highest observed churn rate at 54.60%.</a:t>
            </a:r>
            <a:endParaRPr sz="1050" b="0" i="0" u="none" dirty="0">
              <a:solidFill>
                <a:schemeClr val="bg1">
                  <a:lumMod val="85000"/>
                </a:schemeClr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81025" y="3333303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3815208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4490442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Plus Jakarta Sans"/>
              </a:rPr>
              <a:t>Dashboard: Retention Strategy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1025" y="895350"/>
            <a:ext cx="47625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A2EE9B2-D0AC-021C-B00B-4E50F1109F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6275" y="1466850"/>
            <a:ext cx="71247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530078"/>
            <a:ext cx="3517850" cy="244554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7000" y="2530078"/>
            <a:ext cx="3517850" cy="244554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975" y="2530078"/>
            <a:ext cx="3517850" cy="244554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675" y="2825353"/>
            <a:ext cx="495300" cy="495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8675" y="3511153"/>
            <a:ext cx="17580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F8FAFC"/>
                </a:solidFill>
                <a:latin typeface="Plus Jakarta Sans SemiBold"/>
              </a:rPr>
              <a:t>Contract Incentives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" y="3854053"/>
            <a:ext cx="3022550" cy="8262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Offer targeted discounts and bundled value additions to transition high-risk month-to-month fiber subscribers onto 1- or 2-year commitments.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650" y="2825353"/>
            <a:ext cx="495300" cy="495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84650" y="3511153"/>
            <a:ext cx="172193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F8FAFC"/>
                </a:solidFill>
                <a:latin typeface="Plus Jakarta Sans SemiBold"/>
              </a:rPr>
              <a:t>Auto-Pay Migration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4650" y="3854053"/>
            <a:ext cx="302255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050" dirty="0">
                <a:solidFill>
                  <a:srgbClr val="57667C"/>
                </a:solidFill>
                <a:latin typeface="Inter"/>
              </a:rPr>
              <a:t>Offer targeted incentives to electronic-check users to encourage migration toward automated payment methods.</a:t>
            </a:r>
            <a:endParaRPr sz="1050" b="0" i="0" u="none" dirty="0">
              <a:solidFill>
                <a:srgbClr val="57667C"/>
              </a:solidFill>
              <a:latin typeface="Inter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0625" y="2825353"/>
            <a:ext cx="495300" cy="495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40625" y="3511153"/>
            <a:ext cx="1978059" cy="220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430" dirty="0">
                <a:solidFill>
                  <a:schemeClr val="bg1"/>
                </a:solidFill>
                <a:latin typeface="Plus Jakarta Sans"/>
              </a:rPr>
              <a:t>Early-Tenure Retention</a:t>
            </a:r>
            <a:endParaRPr sz="1430" b="0" i="0" u="none" dirty="0">
              <a:solidFill>
                <a:schemeClr val="bg1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40625" y="3854053"/>
            <a:ext cx="302255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050" dirty="0">
                <a:solidFill>
                  <a:srgbClr val="57667C"/>
                </a:solidFill>
                <a:latin typeface="Inter"/>
              </a:rPr>
              <a:t>Strengthen onboarding, engagement and proactive support during the first 11 months of customer tenure.</a:t>
            </a:r>
            <a:endParaRPr sz="1050" b="0" i="0" u="none" dirty="0">
              <a:solidFill>
                <a:srgbClr val="57667C"/>
              </a:solidFill>
              <a:latin typeface="Inter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1550" y="2968228"/>
            <a:ext cx="209550" cy="2095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3237" y="2968228"/>
            <a:ext cx="238125" cy="2095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54925" y="2968228"/>
            <a:ext cx="266700" cy="2095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Plus Jakarta Sans"/>
              </a:rPr>
              <a:t>Actionable Retention Strategy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1025" y="895350"/>
            <a:ext cx="47625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176462"/>
            <a:ext cx="5324475" cy="31527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176462"/>
            <a:ext cx="5324475" cy="31527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2471737"/>
            <a:ext cx="4970621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8BDF8"/>
                </a:solidFill>
                <a:latin typeface="Plus Jakarta Sans SemiBold"/>
              </a:rPr>
              <a:t>Analytical 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2805112"/>
            <a:ext cx="4733925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The transition from raw relational records to multi-layered business intelligence produced distinct operational advantages: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1775" y="2471737"/>
            <a:ext cx="4970621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8BDF8"/>
                </a:solidFill>
                <a:latin typeface="Plus Jakarta Sans SemiBold"/>
              </a:rPr>
              <a:t>Strategic Business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2805112"/>
            <a:ext cx="4733925" cy="3477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130" dirty="0">
                <a:solidFill>
                  <a:schemeClr val="bg1">
                    <a:lumMod val="85000"/>
                  </a:schemeClr>
                </a:solidFill>
                <a:latin typeface="Inter"/>
              </a:rPr>
              <a:t>Implementation of targeted playbooks can help focus retention efforts on high-risk customer segments:</a:t>
            </a:r>
            <a:endParaRPr sz="1130" b="0" i="0" u="none" dirty="0">
              <a:solidFill>
                <a:schemeClr val="bg1">
                  <a:lumMod val="85000"/>
                </a:schemeClr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4900" y="3362325"/>
            <a:ext cx="4505325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Demystified top-level 26.54% churn into identifiable, high-risk micro-cohorts.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" y="3919537"/>
            <a:ext cx="4505325" cy="3477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130" dirty="0">
                <a:solidFill>
                  <a:schemeClr val="bg1">
                    <a:lumMod val="85000"/>
                  </a:schemeClr>
                </a:solidFill>
                <a:latin typeface="Inter"/>
              </a:rPr>
              <a:t>Found that tenure and contract duration are important dimensions for customer-retention segmentation.</a:t>
            </a:r>
            <a:endParaRPr sz="1130" b="0" i="0" u="none" dirty="0">
              <a:solidFill>
                <a:schemeClr val="bg1">
                  <a:lumMod val="85000"/>
                </a:schemeClr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4900" y="4476750"/>
            <a:ext cx="4505325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Equipped leadership with self-service slicing tools for continuous portfolio monitoring.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0375" y="3362325"/>
            <a:ext cx="4505325" cy="3477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130" dirty="0">
                <a:solidFill>
                  <a:schemeClr val="bg1">
                    <a:lumMod val="85000"/>
                  </a:schemeClr>
                </a:solidFill>
                <a:latin typeface="Inter"/>
              </a:rPr>
              <a:t>Supports more targeted retention spending by prioritizing verified high-risk customer segments.</a:t>
            </a:r>
            <a:endParaRPr sz="1130" i="0" u="none" dirty="0">
              <a:solidFill>
                <a:schemeClr val="bg1">
                  <a:lumMod val="85000"/>
                </a:schemeClr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10375" y="3919537"/>
            <a:ext cx="4505325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Optimizes campaign budget allocation toward verified at-risk customer segments.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0375" y="4476750"/>
            <a:ext cx="4505325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Provides an extensible reporting framework ready for machine learning predictive modeling.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3362325"/>
            <a:ext cx="14287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3919537"/>
            <a:ext cx="14287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4476750"/>
            <a:ext cx="14287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1775" y="3362325"/>
            <a:ext cx="14287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1775" y="3919537"/>
            <a:ext cx="14287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1775" y="4476750"/>
            <a:ext cx="14287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Plus Jakarta Sans"/>
              </a:rPr>
              <a:t>Project Conclusion &amp; Value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1025" y="895350"/>
            <a:ext cx="47625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4562" y="4010025"/>
            <a:ext cx="7762875" cy="676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93315" y="2171700"/>
            <a:ext cx="3005219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F8FAFC"/>
                </a:solidFill>
                <a:latin typeface="Plus Jakarta Sans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81425" y="3219450"/>
            <a:ext cx="46291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325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Questions, feedback, and discussion are welcome.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5087" y="4262437"/>
            <a:ext cx="152400" cy="171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71787" y="4257675"/>
            <a:ext cx="8763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CBD5E1"/>
                </a:solidFill>
                <a:latin typeface="Inter"/>
              </a:rPr>
              <a:t>Mohit Bhilala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1462" y="4262437"/>
            <a:ext cx="171450" cy="171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67212" y="4257675"/>
            <a:ext cx="9144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CBD5E1"/>
                </a:solidFill>
                <a:latin typeface="Inter"/>
              </a:rPr>
              <a:t>IIT Kharagpur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4987" y="4262437"/>
            <a:ext cx="161925" cy="171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91212" y="4257675"/>
            <a:ext cx="36957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CBD5E1"/>
                </a:solidFill>
                <a:latin typeface="Inter"/>
              </a:rPr>
              <a:t>github.com/mohitbhilala005/Customer-Churn-Analysis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726</Words>
  <Application>Microsoft Office PowerPoint</Application>
  <PresentationFormat>Widescreen</PresentationFormat>
  <Paragraphs>116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Inter</vt:lpstr>
      <vt:lpstr>Inter SemiBold</vt:lpstr>
      <vt:lpstr>Plus Jakarta Sans</vt:lpstr>
      <vt:lpstr>Plus Jakarta Sans ExtraBold</vt:lpstr>
      <vt:lpstr>Plus Jakarta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mohit bhilala</cp:lastModifiedBy>
  <cp:revision>1</cp:revision>
  <dcterms:created xsi:type="dcterms:W3CDTF">2013-01-27T09:14:16Z</dcterms:created>
  <dcterms:modified xsi:type="dcterms:W3CDTF">2026-09-07T23:07:13Z</dcterms:modified>
  <cp:category/>
</cp:coreProperties>
</file>